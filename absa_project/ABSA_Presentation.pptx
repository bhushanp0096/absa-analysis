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ASPECT-BASED 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D4FF"/>
                </a:solidFill>
              </a:rPr>
              <a:t>End-to-End System: From Raw Data to Production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834640"/>
            <a:ext cx="9445752" cy="3657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DEE"/>
                </a:solidFill>
              </a:rPr>
              <a:t>Built on SemEval-2014 · bert-base-uncased · FastAPI ·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931920"/>
            <a:ext cx="2011680" cy="914400"/>
          </a:xfrm>
          <a:prstGeom prst="rect">
            <a:avLst/>
          </a:prstGeom>
          <a:solidFill>
            <a:srgbClr val="162A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0050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Val NER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343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0.916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931920"/>
            <a:ext cx="2011680" cy="914400"/>
          </a:xfrm>
          <a:prstGeom prst="rect">
            <a:avLst/>
          </a:prstGeom>
          <a:solidFill>
            <a:srgbClr val="162A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40050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Val Cat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343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0.630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3931920"/>
            <a:ext cx="2011680" cy="914400"/>
          </a:xfrm>
          <a:prstGeom prst="rect">
            <a:avLst/>
          </a:prstGeom>
          <a:solidFill>
            <a:srgbClr val="162A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9" y="40050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Combined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79" y="4343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</a:rPr>
              <a:t>1.546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931920"/>
            <a:ext cx="2011680" cy="914400"/>
          </a:xfrm>
          <a:prstGeom prst="rect">
            <a:avLst/>
          </a:prstGeom>
          <a:solidFill>
            <a:srgbClr val="162A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0050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VRAM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343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C40F"/>
                </a:solidFill>
              </a:rPr>
              <a:t>2.55G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3931920"/>
            <a:ext cx="1737360" cy="914400"/>
          </a:xfrm>
          <a:prstGeom prst="rect">
            <a:avLst/>
          </a:prstGeom>
          <a:solidFill>
            <a:srgbClr val="162A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40050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Training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4343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B59B6"/>
                </a:solidFill>
              </a:rPr>
              <a:t>~2h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DEE"/>
                </a:solidFill>
              </a:rPr>
              <a:t>5 Epochs · GTX 1650 4GB · fp16 AMP · Gradient Accumulation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March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EE"/>
                </a:solidFill>
              </a:rPr>
              <a:t>Why standard sentiment analysis falls short for restaurants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1097280"/>
          </a:xfrm>
          <a:prstGeom prst="rect">
            <a:avLst/>
          </a:prstGeom>
          <a:solidFill>
            <a:srgbClr val="1A0A0A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1C40F"/>
                </a:solidFill>
              </a:rPr>
              <a:t>❝  The food was amazing but the service was unfortunately very slow and overpriced.  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</a:rPr>
              <a:t>Standard sentiment: ⚠️  MIXED — loses all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71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ABSA output:    ✅  food → POSITIVE  |  service → NEGATIVE  |  price → NEGATIVE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11880"/>
            <a:ext cx="5394960" cy="2560320"/>
          </a:xfrm>
          <a:prstGeom prst="rect">
            <a:avLst/>
          </a:prstGeom>
          <a:solidFill>
            <a:srgbClr val="162A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36850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Business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4069080"/>
            <a:ext cx="521208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• Real-time product feedback broken down by dimension
• Identify which restaurant aspects drive customer churn
• Fine-grained quality tracking for operations teams
• Input layer for recommendation engines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611880"/>
            <a:ext cx="5852160" cy="2560320"/>
          </a:xfrm>
          <a:prstGeom prst="rect">
            <a:avLst/>
          </a:prstGeom>
          <a:solidFill>
            <a:srgbClr val="162A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3328" y="36850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Why This is Hard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4069080"/>
            <a:ext cx="566928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• One sentence can carry conflicting sentiments (conflict label)
• Aspect terms span multiple tokens after WordPiece tokenization
• 33% of sentences have no explicit aspect terms (implicit)
• 4GB VRAM constraint requires fp16 + gradient accumulation
• 5 categories × 4 polarities = 20-class multi-head classification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EE"/>
                </a:solidFill>
              </a:rPr>
              <a:t>SemEval-2014 Task 4 — Restaurant Reviews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103120" cy="914400"/>
          </a:xfrm>
          <a:prstGeom prst="rect">
            <a:avLst/>
          </a:prstGeom>
          <a:solidFill>
            <a:srgbClr val="162A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53312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Total Sentences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39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3,041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280160"/>
            <a:ext cx="2103120" cy="914400"/>
          </a:xfrm>
          <a:prstGeom prst="rect">
            <a:avLst/>
          </a:prstGeom>
          <a:solidFill>
            <a:srgbClr val="162A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353312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Aspect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91639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3,693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280160"/>
            <a:ext cx="2103120" cy="914400"/>
          </a:xfrm>
          <a:prstGeom prst="rect">
            <a:avLst/>
          </a:prstGeom>
          <a:solidFill>
            <a:srgbClr val="162A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353312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Implicit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91639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C40F"/>
                </a:solidFill>
              </a:rPr>
              <a:t>1,020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280160"/>
            <a:ext cx="2103120" cy="914400"/>
          </a:xfrm>
          <a:prstGeom prst="rect">
            <a:avLst/>
          </a:prstGeom>
          <a:solidFill>
            <a:srgbClr val="162A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353312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Train / 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691639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</a:rPr>
              <a:t>2738/303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280160"/>
            <a:ext cx="2286000" cy="914400"/>
          </a:xfrm>
          <a:prstGeom prst="rect">
            <a:avLst/>
          </a:prstGeom>
          <a:solidFill>
            <a:srgbClr val="162A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3533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16916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B59B6"/>
                </a:solidFill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23160"/>
            <a:ext cx="5120640" cy="3200400"/>
          </a:xfrm>
          <a:prstGeom prst="rect">
            <a:avLst/>
          </a:prstGeom>
          <a:solidFill>
            <a:srgbClr val="162A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49631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5 Aspect 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2880360"/>
            <a:ext cx="493775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• 🍕  food         — largest category
• 🤝  service      — second most frequent
• 🏮  ambience     — atmosphere &amp; decor
• 💰  price        — value for money
• 📝  anecdotes/miscellaneous — general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423160"/>
            <a:ext cx="3200400" cy="3200400"/>
          </a:xfrm>
          <a:prstGeom prst="rect">
            <a:avLst/>
          </a:prstGeom>
          <a:solidFill>
            <a:srgbClr val="162A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79008" y="24963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4 Sentiment Polarities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8" y="288036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• ✅  positive  — explicit praise
• ❌  negative  — explicit complaint
• ➖  neutral   — factual mention
• ⚡  conflict  — contradictory sentiment in same sentence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423160"/>
            <a:ext cx="2743200" cy="3200400"/>
          </a:xfrm>
          <a:prstGeom prst="rect">
            <a:avLst/>
          </a:prstGeom>
          <a:solidFill>
            <a:srgbClr val="162A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2496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Key Data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2880360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• Positive &gt;&gt; Negative &gt;&gt; Neutral &gt;&gt; Conflict
• Conflict rare but hardest to classify
• 1,020 rows (33%) are negative NER samples
• BIO alignment needed: char spans → sub-word tokens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EE"/>
                </a:solidFill>
              </a:rPr>
              <a:t>End-to-end data flow: XML → Dual-head BERT → FastAPI → Docker</a:t>
            </a:r>
          </a:p>
        </p:txBody>
      </p:sp>
      <p:pic>
        <p:nvPicPr>
          <p:cNvPr id="5" name="Picture 4" descr="absa_architecture_diagram_17725548889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DESIGN &amp; GPU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EE"/>
                </a:solidFill>
              </a:rPr>
              <a:t>Dual-head BERT with GTX 1650 (4GB) memory optimisations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669280" cy="2743200"/>
          </a:xfrm>
          <a:prstGeom prst="rect">
            <a:avLst/>
          </a:prstGeom>
          <a:solidFill>
            <a:srgbClr val="162A3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07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Dual-Head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9164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• Shared encoder: bert-base-uncased (109M params)
• NER head: Linear(768 → 3)  →  B / I / O tagging per token
• Category head: Linear(768 → 20)  →  reshape(5 cats, 4 pols)
• Multi-task learning: both heads trained jointly
• Combined loss = NER loss + Category loss (equal weights)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5486400" cy="2743200"/>
          </a:xfrm>
          <a:prstGeom prst="rect">
            <a:avLst/>
          </a:prstGeom>
          <a:solidFill>
            <a:srgbClr val="162A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3075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Why BERT-base-uncased?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6916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• Best accuracy/VRAM tradeoff for 4GB GPU
• 'uncased' handles informal restaurant review casing
• WordPiece tokenizer enables sub-word BIO alignment
• 12 layers give rich contextual representations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60520"/>
            <a:ext cx="11430000" cy="320040"/>
          </a:xfrm>
          <a:prstGeom prst="rect">
            <a:avLst/>
          </a:prstGeom>
          <a:solidFill>
            <a:srgbClr val="162A3E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788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C40F"/>
                </a:solidFill>
              </a:rPr>
              <a:t>⚡  GTX 1650 Memory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17720"/>
            <a:ext cx="2148840" cy="1280160"/>
          </a:xfrm>
          <a:prstGeom prst="rect">
            <a:avLst/>
          </a:prstGeom>
          <a:solidFill>
            <a:srgbClr val="162A3E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Batch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1C40F"/>
                </a:solidFill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406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EE"/>
                </a:solidFill>
              </a:rPr>
              <a:t>VRAM safe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4617720"/>
            <a:ext cx="2148840" cy="1280160"/>
          </a:xfrm>
          <a:prstGeom prst="rect">
            <a:avLst/>
          </a:prstGeom>
          <a:solidFill>
            <a:srgbClr val="162A3E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46634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Grad Accum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937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1C40F"/>
                </a:solidFill>
              </a:rPr>
              <a:t>×2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4406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EE"/>
                </a:solidFill>
              </a:rPr>
              <a:t>Eff. batch =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4617720"/>
            <a:ext cx="2148840" cy="1280160"/>
          </a:xfrm>
          <a:prstGeom prst="rect">
            <a:avLst/>
          </a:prstGeom>
          <a:solidFill>
            <a:srgbClr val="162A3E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46634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fp16 AMP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937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1C40F"/>
                </a:solidFill>
              </a:rPr>
              <a:t>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4406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EE"/>
                </a:solidFill>
              </a:rPr>
              <a:t>−40% VRAM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4617720"/>
            <a:ext cx="2148840" cy="1280160"/>
          </a:xfrm>
          <a:prstGeom prst="rect">
            <a:avLst/>
          </a:prstGeom>
          <a:solidFill>
            <a:srgbClr val="162A3E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46634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Grad Clip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937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1C40F"/>
                </a:solidFill>
              </a:rPr>
              <a:t>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4406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EE"/>
                </a:solidFill>
              </a:rPr>
              <a:t>fp16 stable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4617720"/>
            <a:ext cx="2148840" cy="1280160"/>
          </a:xfrm>
          <a:prstGeom prst="rect">
            <a:avLst/>
          </a:prstGeom>
          <a:solidFill>
            <a:srgbClr val="162A3E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46634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Peak VRAM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9377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1C40F"/>
                </a:solidFill>
              </a:rPr>
              <a:t>2.55G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4406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EE"/>
                </a:solidFill>
              </a:rPr>
              <a:t>4.3G limit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 RESULTS &amp; KEY DISCOVERIES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EE"/>
                </a:solidFill>
              </a:rPr>
              <a:t>Full run: 5 epochs · 2,738 train / 303 val · GTX 1650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960120" cy="365760"/>
          </a:xfrm>
          <a:prstGeom prst="rect">
            <a:avLst/>
          </a:prstGeom>
          <a:solidFill>
            <a:srgbClr val="00608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Epoch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325880"/>
            <a:ext cx="1508760" cy="365760"/>
          </a:xfrm>
          <a:prstGeom prst="rect">
            <a:avLst/>
          </a:prstGeom>
          <a:solidFill>
            <a:srgbClr val="00608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353312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Train 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325880"/>
            <a:ext cx="1325880" cy="365760"/>
          </a:xfrm>
          <a:prstGeom prst="rect">
            <a:avLst/>
          </a:prstGeom>
          <a:solidFill>
            <a:srgbClr val="00608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1353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Val 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1325880" cy="365760"/>
          </a:xfrm>
          <a:prstGeom prst="rect">
            <a:avLst/>
          </a:prstGeom>
          <a:solidFill>
            <a:srgbClr val="00608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353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NER 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325880"/>
            <a:ext cx="1325880" cy="365760"/>
          </a:xfrm>
          <a:prstGeom prst="rect">
            <a:avLst/>
          </a:prstGeom>
          <a:solidFill>
            <a:srgbClr val="00608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353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 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37360"/>
            <a:ext cx="96012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7647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1737360"/>
            <a:ext cx="150876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1764792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1.4007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737360"/>
            <a:ext cx="132588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39" y="17647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0.9392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1737360"/>
            <a:ext cx="132588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17647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0.856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1737360"/>
            <a:ext cx="132588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17647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0.430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194560"/>
            <a:ext cx="96012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22199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2194560"/>
            <a:ext cx="150876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2221991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0.7618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2194560"/>
            <a:ext cx="132588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39" y="22219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0.7620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2194560"/>
            <a:ext cx="132588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22219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0.910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2194560"/>
            <a:ext cx="132588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22219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0.496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651760"/>
            <a:ext cx="96012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267919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17320" y="2651760"/>
            <a:ext cx="150876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2679191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0.5443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2651760"/>
            <a:ext cx="132588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63239" y="26791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0.6840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2651760"/>
            <a:ext cx="132588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59" y="26791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0.906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2651760"/>
            <a:ext cx="132588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80" y="26791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0.554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108960"/>
            <a:ext cx="96012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313639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17320" y="3108960"/>
            <a:ext cx="150876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63040" y="3136391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0.4193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3108960"/>
            <a:ext cx="132588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63239" y="31363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0.7106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34840" y="3108960"/>
            <a:ext cx="132588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0559" y="31363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0.914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3108960"/>
            <a:ext cx="1325880" cy="438912"/>
          </a:xfrm>
          <a:prstGeom prst="rect">
            <a:avLst/>
          </a:prstGeom>
          <a:solidFill>
            <a:srgbClr val="162A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97880" y="31363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0.591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566160"/>
            <a:ext cx="960120" cy="438912"/>
          </a:xfrm>
          <a:prstGeom prst="rect">
            <a:avLst/>
          </a:prstGeom>
          <a:solidFill>
            <a:srgbClr val="0A2A0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359359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5 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17320" y="3566160"/>
            <a:ext cx="1508760" cy="438912"/>
          </a:xfrm>
          <a:prstGeom prst="rect">
            <a:avLst/>
          </a:prstGeom>
          <a:solidFill>
            <a:srgbClr val="0A2A0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63040" y="3593591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0.3563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17520" y="3566160"/>
            <a:ext cx="1325880" cy="438912"/>
          </a:xfrm>
          <a:prstGeom prst="rect">
            <a:avLst/>
          </a:prstGeom>
          <a:solidFill>
            <a:srgbClr val="0A2A0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63239" y="35935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0.6821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34840" y="3566160"/>
            <a:ext cx="1325880" cy="438912"/>
          </a:xfrm>
          <a:prstGeom prst="rect">
            <a:avLst/>
          </a:prstGeom>
          <a:solidFill>
            <a:srgbClr val="0A2A0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59" y="35935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0.916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52160" y="3566160"/>
            <a:ext cx="1325880" cy="438912"/>
          </a:xfrm>
          <a:prstGeom prst="rect">
            <a:avLst/>
          </a:prstGeom>
          <a:solidFill>
            <a:srgbClr val="0A2A0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97880" y="359359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0.630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69480" y="1234440"/>
            <a:ext cx="4572000" cy="5212080"/>
          </a:xfrm>
          <a:prstGeom prst="rect">
            <a:avLst/>
          </a:prstGeom>
          <a:solidFill>
            <a:srgbClr val="162A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79208" y="13075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🔍  Key Discoveries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79208" y="169164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• NER F1 converged quickly (0.86 → 0.92 by epoch 2)
• Category F1 kept improving each epoch (0.43 → 0.63)
• NaNLoss bug: CrossEntropyLoss returns NaN when all batch labels are -1
• Fix: skip category if (labels[:,c] == -1).all() — 3-line change
• Vectorized cat_loss: replaced 5-iteration loop with single F.cross_entropy
• VRAM stayed stable at 2.55 GB across all 5 epochs — no OOM risk
• Epoch 4 val_loss tiny spike (overfitting) — best checkpoint = epoch 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 QUALITY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EE"/>
                </a:solidFill>
              </a:rPr>
              <a:t>Three targeted fixes to input data handling — implemented &amp; verified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1600200"/>
          </a:xfrm>
          <a:prstGeom prst="rect">
            <a:avLst/>
          </a:prstGeom>
          <a:solidFill>
            <a:srgbClr val="162A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990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🔧  Change 1: Broken Spans → Ignored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DEE"/>
                </a:solidFill>
              </a:rPr>
              <a:t>‹ Before›  Invalid char spans (start≥end) fell back to (0,0). Token at position 0 was labelled 'O' — teaching the model wrong 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‹ After›  Spans with start≥end are dropped entirely at parse time. Zero corrupt NER labels in the dataset.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600200"/>
            <a:ext cx="2926080" cy="914400"/>
          </a:xfrm>
          <a:prstGeom prst="rect">
            <a:avLst/>
          </a:prstGeom>
          <a:solidFill>
            <a:srgbClr val="0528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6459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IMPLEMENTED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EE"/>
                </a:solidFill>
              </a:rPr>
              <a:t>Verified in smoke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11430000" cy="1600200"/>
          </a:xfrm>
          <a:prstGeom prst="rect">
            <a:avLst/>
          </a:prstGeom>
          <a:solidFill>
            <a:srgbClr val="162A3E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821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C40F"/>
                </a:solidFill>
              </a:rPr>
              <a:t>🏷️  Change 2: Implicit Rows as Explicit Negatives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DEE"/>
                </a:solidFill>
              </a:rPr>
              <a:t>‹ Before›  Sentences with no aspect terms were silently processed — no visibility into how many existed.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‹ After›  1,020 rows (33%) confirmed as negative samples. Now logged explicitly: helps NER head learn 'O' labels from real context.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3383279"/>
            <a:ext cx="2926080" cy="914400"/>
          </a:xfrm>
          <a:prstGeom prst="rect">
            <a:avLst/>
          </a:prstGeom>
          <a:solidFill>
            <a:srgbClr val="0528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IMPLEMENTED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EE"/>
                </a:solidFill>
              </a:rPr>
              <a:t>Verified in smoke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92040"/>
            <a:ext cx="11430000" cy="1600200"/>
          </a:xfrm>
          <a:prstGeom prst="rect">
            <a:avLst/>
          </a:prstGeom>
          <a:solidFill>
            <a:srgbClr val="162A3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651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</a:rPr>
              <a:t>⚡  Change 3: Vectorized Category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DEE"/>
                </a:solidFill>
              </a:rPr>
              <a:t>‹ Before›  Python for-loop over 5 categories. Each category computed independently, then averaged — slow and caused NaN when all labels were -1.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7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‹ After›  Single F.cross_entropy call over flattened (B×5, 4) tensor. Faster backprop, more stable gradients, NaN eliminated.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5166359"/>
            <a:ext cx="2926080" cy="914400"/>
          </a:xfrm>
          <a:prstGeom prst="rect">
            <a:avLst/>
          </a:prstGeom>
          <a:solidFill>
            <a:srgbClr val="0528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52120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IMPLEMENTED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EE"/>
                </a:solidFill>
              </a:rPr>
              <a:t>Verified in smoke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API DESIGN &amp; DEPLOYMENT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EE"/>
                </a:solidFill>
              </a:rPr>
              <a:t>FastAPI service → Docker → Cloud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0" cy="365760"/>
          </a:xfrm>
          <a:prstGeom prst="rect">
            <a:avLst/>
          </a:prstGeom>
          <a:solidFill>
            <a:srgbClr val="00507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API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029200" cy="658368"/>
          </a:xfrm>
          <a:prstGeom prst="rect">
            <a:avLst/>
          </a:prstGeom>
          <a:solidFill>
            <a:srgbClr val="162A3E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640080" cy="36576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76479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756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Liveness + model load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04872"/>
            <a:ext cx="5029200" cy="658368"/>
          </a:xfrm>
          <a:prstGeom prst="rect">
            <a:avLst/>
          </a:prstGeom>
          <a:solidFill>
            <a:srgbClr val="162A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450591"/>
            <a:ext cx="640080" cy="3657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478024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4505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788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Single sentence ABSA inference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18104"/>
            <a:ext cx="5029200" cy="658368"/>
          </a:xfrm>
          <a:prstGeom prst="rect">
            <a:avLst/>
          </a:prstGeom>
          <a:solidFill>
            <a:srgbClr val="162A3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163824"/>
            <a:ext cx="640080" cy="3657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191256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1638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/predict/batch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502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Up to 32 sentences, sequential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31335"/>
            <a:ext cx="5029200" cy="658368"/>
          </a:xfrm>
          <a:prstGeom prst="rect">
            <a:avLst/>
          </a:prstGeom>
          <a:solidFill>
            <a:srgbClr val="162A3E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877056"/>
            <a:ext cx="640080" cy="36576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904487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8770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/stats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21538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Dataset category/polarity distribution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44568"/>
            <a:ext cx="5029200" cy="658368"/>
          </a:xfrm>
          <a:prstGeom prst="rect">
            <a:avLst/>
          </a:prstGeom>
          <a:solidFill>
            <a:srgbClr val="162A3E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4590288"/>
            <a:ext cx="640080" cy="365760"/>
          </a:xfrm>
          <a:prstGeom prst="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46177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590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9286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Auto-generated Swagger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1234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Deployment Phases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1691640"/>
            <a:ext cx="1600200" cy="4983480"/>
          </a:xfrm>
          <a:prstGeom prst="rect">
            <a:avLst/>
          </a:prstGeom>
          <a:solidFill>
            <a:srgbClr val="162A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79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Phase 1
Local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50992" y="2377440"/>
            <a:ext cx="1463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uvicorn api.app:app
--host 0.0.0.0 --port 8000
Dev + testing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42048" y="1691640"/>
            <a:ext cx="1600200" cy="4983480"/>
          </a:xfrm>
          <a:prstGeom prst="rect">
            <a:avLst/>
          </a:prstGeom>
          <a:solidFill>
            <a:srgbClr val="162A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33488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</a:rPr>
              <a:t>Phase 2
Docker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377440"/>
            <a:ext cx="1463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docker build -t absa-api .
docker run -p 8000:8000
--gpus all absa-api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06256" y="1691640"/>
            <a:ext cx="1600200" cy="4983480"/>
          </a:xfrm>
          <a:prstGeom prst="rect">
            <a:avLst/>
          </a:prstGeom>
          <a:solidFill>
            <a:srgbClr val="162A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97696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Phase 3
Cloud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408" y="2377440"/>
            <a:ext cx="1463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AWS/GCP container registry
Load balancer + auto-scaling
CPU inference for cost savings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70463" y="1691640"/>
            <a:ext cx="1600200" cy="4983480"/>
          </a:xfrm>
          <a:prstGeom prst="rect">
            <a:avLst/>
          </a:prstGeom>
          <a:solidFill>
            <a:srgbClr val="162A3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61903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59B6"/>
                </a:solidFill>
              </a:rPr>
              <a:t>Phase 4
MLOps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43615" y="2377440"/>
            <a:ext cx="1463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Model versioning (MLflow)
Retraining pipeline
A/B testing new checkpoints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UNIFIED NARRATIVE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1188720"/>
          </a:xfrm>
          <a:prstGeom prst="rect">
            <a:avLst/>
          </a:prstGeom>
          <a:solidFill>
            <a:srgbClr val="0520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The Journey:   Raw XML  →  Clean tensors  →  Dual-head BERT  →  91.6% NER F1  →  63% Cat F1  → 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DEE"/>
                </a:solidFill>
              </a:rPr>
              <a:t>Every design decision was driven by a 4GB VRAM constraint — and every fix became a lesson in production ML engineering.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5486400" cy="3657600"/>
          </a:xfrm>
          <a:prstGeom prst="rect">
            <a:avLst/>
          </a:prstGeom>
          <a:solidFill>
            <a:srgbClr val="162A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267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✅  What Was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65176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• 109M-parameter BERT fine-tuned end-to-end on 2,738 examples
• NER F1 = 0.916 — near-human level aspect-term detection
• Category F1 = 0.630 — solid 5-class polarity classification
• Zero OOM errors across 5 epochs (VRAM budget: 2.55/4.3 GB)
• Three data-quality bugs found and fixed during training
• Production-ready FastAPI service with Swagger UI + Docker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194560"/>
            <a:ext cx="5760720" cy="3657600"/>
          </a:xfrm>
          <a:prstGeom prst="rect">
            <a:avLst/>
          </a:prstGeom>
          <a:solidFill>
            <a:srgbClr val="162A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2677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🚀 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265176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• Run 10-epoch full training (model still improving at epoch 5)
• Add confidence calibration for /predict endpoint
• Implement span-level F1 metric (stricter than token-level)
• Add Gunicorn + Uvicorn workers for production throughput
• Add MLflow experiment tracking for hyperparameter sweeps
• Export to ONNX for CPU-only inference (50× cheaper cloud)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ABSA PROJECT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DDEE"/>
                </a:solidFill>
              </a:rPr>
              <a:t>An end-to-end NLP system from raw XML to a containerised production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194560"/>
            <a:ext cx="1874519" cy="1371600"/>
          </a:xfrm>
          <a:prstGeom prst="rect">
            <a:avLst/>
          </a:prstGeom>
          <a:solidFill>
            <a:srgbClr val="162A3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240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Val NER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6060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CC71"/>
                </a:solidFill>
              </a:rPr>
              <a:t>0.916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2278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DDEE"/>
                </a:solidFill>
              </a:rPr>
              <a:t>Aspect term extraction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8568" y="2194560"/>
            <a:ext cx="1874519" cy="1371600"/>
          </a:xfrm>
          <a:prstGeom prst="rect">
            <a:avLst/>
          </a:prstGeom>
          <a:solidFill>
            <a:srgbClr val="162A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0008" y="2240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Val Cat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6060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FF"/>
                </a:solidFill>
              </a:rPr>
              <a:t>0.630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32278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DDEE"/>
                </a:solidFill>
              </a:rPr>
              <a:t>Category sentiment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7096" y="2194560"/>
            <a:ext cx="1874519" cy="1371600"/>
          </a:xfrm>
          <a:prstGeom prst="rect">
            <a:avLst/>
          </a:prstGeom>
          <a:solidFill>
            <a:srgbClr val="162A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2240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Combined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26060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6B35"/>
                </a:solidFill>
              </a:rPr>
              <a:t>1.546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32278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DDEE"/>
                </a:solidFill>
              </a:rPr>
              <a:t>Best checkpoint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5624" y="2194560"/>
            <a:ext cx="1874519" cy="1371600"/>
          </a:xfrm>
          <a:prstGeom prst="rect">
            <a:avLst/>
          </a:prstGeom>
          <a:solidFill>
            <a:srgbClr val="162A3E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064" y="2240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VRAM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26060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1C40F"/>
                </a:solidFill>
              </a:rPr>
              <a:t>2.55G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32278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DDEE"/>
                </a:solidFill>
              </a:rPr>
              <a:t>Peak usage (4.3G avail.)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4152" y="2194560"/>
            <a:ext cx="1874519" cy="1371600"/>
          </a:xfrm>
          <a:prstGeom prst="rect">
            <a:avLst/>
          </a:prstGeom>
          <a:solidFill>
            <a:srgbClr val="162A3E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2240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Epochs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6060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9B59B6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32278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DDEE"/>
                </a:solidFill>
              </a:rPr>
              <a:t>Training completed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80" y="2194560"/>
            <a:ext cx="1874519" cy="1371600"/>
          </a:xfrm>
          <a:prstGeom prst="rect">
            <a:avLst/>
          </a:prstGeom>
          <a:solidFill>
            <a:srgbClr val="162A3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4120" y="2240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Endpoints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6060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CC71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2278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DDEE"/>
                </a:solidFill>
              </a:rPr>
              <a:t>FastAPI ready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840480"/>
            <a:ext cx="11430000" cy="457200"/>
          </a:xfrm>
          <a:prstGeom prst="rect">
            <a:avLst/>
          </a:prstGeom>
          <a:solidFill>
            <a:srgbClr val="052035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8862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Stack:  Python 3.10  ·  PyTorch 2.x  ·  HuggingFace Transformers  ·  FastAPI  ·  Docker  ·  Plotly  ·  Matplotlib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80560"/>
            <a:ext cx="11430000" cy="1463040"/>
          </a:xfrm>
          <a:prstGeom prst="rect">
            <a:avLst/>
          </a:prstGeom>
          <a:solidFill>
            <a:srgbClr val="162A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Pipeline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937760"/>
            <a:ext cx="1143000" cy="640080"/>
          </a:xfrm>
          <a:prstGeom prst="rect">
            <a:avLst/>
          </a:prstGeom>
          <a:solidFill>
            <a:srgbClr val="10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98348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</a:rPr>
              <a:t>XML Parser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55648" y="4937760"/>
            <a:ext cx="1143000" cy="640080"/>
          </a:xfrm>
          <a:prstGeom prst="rect">
            <a:avLst/>
          </a:prstGeom>
          <a:solidFill>
            <a:srgbClr val="10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01368" y="498348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</a:rPr>
              <a:t>BIO Aligner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08376" y="4937760"/>
            <a:ext cx="1143000" cy="640080"/>
          </a:xfrm>
          <a:prstGeom prst="rect">
            <a:avLst/>
          </a:prstGeom>
          <a:solidFill>
            <a:srgbClr val="10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98348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</a:rPr>
              <a:t>ABSADataset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1104" y="4937760"/>
            <a:ext cx="1143000" cy="640080"/>
          </a:xfrm>
          <a:prstGeom prst="rect">
            <a:avLst/>
          </a:prstGeom>
          <a:solidFill>
            <a:srgbClr val="102A40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06824" y="498348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B59B6"/>
                </a:solidFill>
              </a:rPr>
              <a:t>bert-base
uncased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13832" y="4937760"/>
            <a:ext cx="1143000" cy="640080"/>
          </a:xfrm>
          <a:prstGeom prst="rect">
            <a:avLst/>
          </a:prstGeom>
          <a:solidFill>
            <a:srgbClr val="102A4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59552" y="498348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NER Head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4937760"/>
            <a:ext cx="1143000" cy="640080"/>
          </a:xfrm>
          <a:prstGeom prst="rect">
            <a:avLst/>
          </a:prstGeom>
          <a:solidFill>
            <a:srgbClr val="102A4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12280" y="498348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6B35"/>
                </a:solidFill>
              </a:rPr>
              <a:t>Cat Head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9288" y="4937760"/>
            <a:ext cx="1143000" cy="640080"/>
          </a:xfrm>
          <a:prstGeom prst="rect">
            <a:avLst/>
          </a:prstGeom>
          <a:solidFill>
            <a:srgbClr val="102A40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498348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1C40F"/>
                </a:solidFill>
              </a:rPr>
              <a:t>AdamW + fp16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72016" y="4937760"/>
            <a:ext cx="1143000" cy="640080"/>
          </a:xfrm>
          <a:prstGeom prst="rect">
            <a:avLst/>
          </a:prstGeom>
          <a:solidFill>
            <a:srgbClr val="102A4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17736" y="498348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CC71"/>
                </a:solidFill>
              </a:rPr>
              <a:t>FastAPI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24744" y="4937760"/>
            <a:ext cx="1143000" cy="640080"/>
          </a:xfrm>
          <a:prstGeom prst="rect">
            <a:avLst/>
          </a:prstGeom>
          <a:solidFill>
            <a:srgbClr val="10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70464" y="498348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</a:rPr>
              <a:t>Docker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EE"/>
                </a:solidFill>
              </a:rPr>
              <a:t>Model saved to:  /home/bhush/genai/absa_project/models/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